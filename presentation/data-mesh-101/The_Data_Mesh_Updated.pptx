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3.svg" ContentType="image/svg+xml"/>
  <Override PartName="/ppt/media/image-12-3.svg" ContentType="image/svg+xml"/>
  <Override PartName="/ppt/media/image-14-3.svg" ContentType="image/svg+xml"/>
  <Override PartName="/ppt/media/image-18-3.svg" ContentType="image/svg+xml"/>
  <Override PartName="/ppt/media/image-19-3.svg" ContentType="image/svg+xml"/>
  <Override PartName="/ppt/media/image-23-3.svg" ContentType="image/svg+xml"/>
  <Override PartName="/ppt/media/image-24-3.svg" ContentType="image/svg+xml"/>
  <Override PartName="/ppt/media/image-25-3.svg" ContentType="image/svg+xml"/>
  <Override PartName="/ppt/media/image-28-3.svg" ContentType="image/svg+xml"/>
  <Override PartName="/ppt/media/image-31-3.svg" ContentType="image/svg+xml"/>
  <Override PartName="/ppt/media/image-33-3.svg" ContentType="image/svg+xml"/>
  <Override PartName="/ppt/media/image-34-3.svg" ContentType="image/svg+xml"/>
  <Override PartName="/ppt/media/image-5-3.svg" ContentType="image/svg+xml"/>
  <Override PartName="/ppt/media/image-7-3.svg" ContentType="image/svg+xml"/>
  <Override PartName="/ppt/media/image-9-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7"/>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This talk has two halves. The first half is conceptual: what a data mesh is and the four principles Zhamak Dehghani defined in Data Mesh (O'Reilly, 2022). The second half is concrete: a reference implementation of those principles on Kubernetes / OpenShift, so the ideas don't stay abstract. Set expectations: this can run 60-90 minutes with questions; the diagrams are the anchors, so encourage people to interrupt at any diagram. Emphasise up front that a data mesh is an organizational and architectural pattern, not a product you buy — that reframing prevents the most common misunderstanding for the rest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We open with the problem a mesh solves and a one-slide overview, then spend the core of the talk on the four principles in order — each principle gets its concept slides plus a diagram or two. We close with the implementation: how those four principles map onto Kubernetes / OpenShift primitives and a reference architecture. Tell the audience the four principles interlock — none of them stands alone — so the order matters: ownership creates the need for product thinking, product thinking needs a platform to be affordable, and the platform needs governance to stay coherent.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The goal of this section: by the end, the audience can explain why centralized analytical data architectures stall at scale, and what 'decentralize ownership' actually means. Keep it problem-first — resist defining the four principles yet; that's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 is sociotechnical — it is as much about org design (who owns what) as about technology. Dehghani's central move is to invert the default: instead of pulling all data into one place and then granting access, you leave ownership with the domains that produce and understand the data, and give them a platform to publish it as a product. The microservices analogy is the most useful mental model for an engineering audience: we already refactored monolithic applications into bounded contexts owned by teams; a data mesh does the same to the analytical data plane. Land the last bullet hard: every failure mode later in the talk comes from teams expecting to 'install a data mesh.' You implement the pattern with tools; the tools are not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layers top to bottom. Top band: the self-serve platform provides shared infrastructure so domains don't each rebuild storage, streaming, a registry, or observability. Middle: each domain publishes its analytical data as a product — it owns its schema, its quality / SLOs, and the pipeline that produces it, but hides that pipeline as internal detail. Bottom band: global interoperability standards (the governance layer) are what let independent products connect — naming, identifiers, security, documentation. The mesh is literally 'the set of data products plus the standards that connect them.' Stress that the domains are peers — there is no central hub in this picture, which is the visual contrast with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foundational and people conflate the two constantly. Operational data answers 'what is true right now' for the running system — the orders table behind the order service. Analytical data answers 'what has happened over time' — the temporal, aggregated view used for insight. The traditional architecture copies operational data across a fragile pipeline into a central analytical store owned by a separate team. Two problems: the pipeline breaks whenever the operational schema changes, and the owning team understands the warehouse but not the business meaning. The mesh keeps both planes with the domain that understands them. Foreshadow: the next diagram shows that bridge, and the one after shows why the central-team model becomes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make the previous slide concrete. Left: the operational plane — services and their databases, optimised for transactions and current state. Right: the analytical plane — lake, warehouse, BI/ML, optimised for history and aggregation. Middle: the ETL/CDC pipeline that has traditionally connected them. Point out that every arrow crossing the middle is a coupling point and a failure point. The data-mesh argument is not 'delete the analytical plane' — it's 'stop making a central team own the bridge.' Each domain owns its own slice of that flow end to end. This sets up the bottleneck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symptoms Dehghani uses to motivate the mesh, and they're worth naming because the audience will recognise them from their own organisations. The bottleneck is structural, not a staffing problem — adding people to the central team scales linearly while the demands scale combinatorially (sources × consumers × use cases). The knowledge gap is the deepest issue: the central team is expert in pipelines and storage but not in what the data means, so they can neither model it well nor vouch for it. Brittleness and poor discoverability/trust are the day-to-day pain consumers feel. Tee up the diagram: a picture of one team in the middle of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picture do the work: one team in the middle, bidirectional arrows to every stakeholder and domain. Each arrow is a request queue and a hand-off. The point isn't that the central team is bad at their jobs — it's that the topology guarantees contention. Contrast deliberately with the 'at a glance' diagram from a few slides back, which had no centre. Ask the audience: how many of you have a data team that looks like this hub? That recognition is what motivates the rest of the talk. Then pivot: we already solved this exact shape on the operational side —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persuasive core of the section. We already decentralised the operational world — DDD gave us bounded contexts, microservices gave us independently deployable units, DevOps gave teams 'you build it, you run it.' Analytical data is the one place we left centralised. The mesh simply extends the decentralisation we already believe in to the data plane. Note the asymmetry the audience lives with daily: a domain team can ship a new API in an afternoon but waits weeks for the data team to expose the same data analytically. The next diagram makes this 'we decentralised everything except data' point visually, as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checked boxes — business into domains, engineering into autonomous teams, the monolith into microservices, operations into DevOps — all of which scaled software delivery. One unchecked box: the data lake into a data mesh, which is what scales data and analytics. This single image often does more to sell the idea to leadership than any amount of architecture, because it frames the mesh as the natural completion of a transformation the organisation has already invested in, not a new fad. Use it to transition into the principles: 'so how do we check that last box? Four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before/after to crystallise the section. Left: the centralized world — one team owning lake, warehouse and every pipeline, with sources feeding in and consumers pulling out through that team. Right: the same data, now owned by the domains that produce it, published as products, interconnected, sitting on a shared self-serve platform and under federated governance. Make explicit what stays and what changes: the storage technologies may be similar; what changes is ownership and topology. Decentralised ownership is the cause; the platform and governance layers are what stop decentralisation from degenerating into chaos. That tension — autonomy vs coherence — is the throughline for the four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Dehghani's four principles are the heart of the model. Preview them in order and stress interdependence: Domain ownership creates many data owners; Data as a product sets the quality bar for what they publish; Self-serve platform makes producing a quality product affordable; Federated computational governance keeps independent products interoperable. Remove any one and the model collapses — e.g. ownership without a platform just recreates silos with more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 this is the spine of the whole talk. Read each card: (1) Domain ownership — data owned end to end by the domain that produces it. (2) Data as a product — that data meets a product-grade usability bar. (3) Self-serve data platform — shared infrastructure so building a product is affordable without specialist data-infra skills per team. (4) Federated computational governance — global rules enforced by the platform, not by committees. The 'in practice' line on each card previews how we'll realise it on Kubernetes / OpenShift later, so the audience knows the abstractions land on real primitives. Reiterate interdependence: the arrows of causation run ownership → product → platform → governance, and governance loops back to keep ownership coherent.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into principle 1. The aim: the audience should be able to say what a domain owns, why ownership aligns to bounded contexts, and what 'archetypes' of domain data exist. This is the principle that most directly mirrors domain-driven design, so lean on that for an engineering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principle in DDD: a domain owns analytical data for the same bounded context it already owns operationally. End-to-end accountability is the key phrase — not just 'produces the data' but owns its modelling, quality, SLOs, lifecycle and schema evolution. The third bullet is subtle but important: domains hide their pipelines (the 'how') and expose data through contracts (the 'what'); this is the information-hiding principle applied to data, and it's what lets the pipeline change without breaking consumers. The reference-architecture bullet keeps it concrete without naming any specific project: each service is a bounded context with its own schema, and on Kubernetes that ownership boundary is a Namespace with its own ServiceAccounts and RBAC. Avoid implying you buy ownership — it's an org decision the platform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Dehghani's three archetypes help teams decide what to publish. Source-aligned products mirror business facts close to the operational system — they're the most stable and reusable, and you should push ownership of these upstream to the source domain. Aggregate products combine several sources. Consumer-aligned products are shaped for a specific use case and are the most volatile, so they shouldn't be treated as canonical. The last bullet is the cultural punchline: data mesh explicitly rejects the 'single source of truth' dream — instead you embrace multiple connected models, each most relevant to its domain, joined by contracts rather than by forcing everyone into one schema. The next two diagrams show how a domain refines raw operational data into these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domain boundary: operational data is ingested as raw data, then refined. Events are small, immutable business facts (order placed, payment processed). Entities are business objects whose state changes over time (the order, the customer). Aggregates roll several of these up; external data brings in other domains' products. From these, the domain publishes a curated view as its data product — and its own analytics consume the same products it serves. The teaching point: a data product is not a raw dump of the operational database; it's deliberately modelled analytical data with a contract. Note the domain owns this entire refinement chain — that's domain ownership made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raw operational data actually reach the analytical side? Two mechanisms. First, domain events: services publish business facts to a messaging backbone as they happen, and those stream into the analytical plane in near real time. Second, change-data-capture: for existing systems and legacy databases you can't easily re-instrument, CDC tails the database's change log and emits the same kind of events — this is how you bring brownfield systems into the mesh without rewriting them. The right edge shows raw data being cleaned and modelled into events and entities. The takeaway for practitioners: you do not need a big-bang rewrite to start; streaming for new services, CDC for old ones. In the reference stack, the backbone is Kafka (via the Strimzi operator) and CDC is Debezium-style.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into principle 2. The aim: the audience understands the usability bar a data product must clear, the role of a data product owner, and the 'architectural quantum' — the idea that a data product is a self-contained deployable unit carrying code, data, metadata and infrastructure. This is the principle that turns 'a domain has data' into 'a domain ships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thinking flips the question from 'what data do we have lying around' to 'who are my users and what do they need.' Walk the usability attributes — they're the acceptance criteria for a data product: discoverable (findable in a catalog), addressable (a stable, unique address), understandable (clear semantics), trustworthy (published SLOs for freshness and quality), natively accessible (consumable in the tools each user already uses), interoperable (global standards so it joins to others), valuable on its own, and secure. The data product owner is a real role with accountability for these attributes — that's the organisational change. The reframing in the last bullet — by-product/asset → product — is the cultural shift that makes all the attributes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 quantum' is borrowed from evolutionary architecture: the smallest deployable unit with high functional cohesion. Dehghani's insight is that a data product must bundle three things so it can stand alone. Code: the transformation pipelines, the serving APIs, and crucially policy-as-code for access, compliance and provenance — governance travels with the product. Data and metadata: not just the bytes, but the schema, documentation and quality metrics that make it usable and trustworthy — metadata is a first-class part of the product, not an afterthought. Infrastructure: the means to build, deploy and run it. The reason this matters: if any of these lives outside the product (e.g. governance handled by a separate team's spreadsheet), the product can't be independently deployed or owned. The next diagram draws this quantum with its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An input data port (IDP) receives data from an upstream operational system or another product. Inside, the three structural components from the previous slide: code, data + metadata, infrastructure. An output data port (ODP) serves the data to consumers in whatever form fits — events, tables, files. The control port on top is where governance, SLOs and access policy are applied. The strip along the bottom restates the usability attributes — point out that the architecture exists precisely to deliver those attributes. The ports model is what makes products composable: one product's output port feeds another's input port, which is exactly the consumer-aligned archetype from the ownership section. This is the mental model for the contracts discussion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 are how a data product keeps its promise at its ports. In a multi-protocol world each boundary has a contract: REST has OpenAPI, gRPC has Protobuf, GraphQL has SDL, and Kafka events have Avro schemas. The reference stack gives all of them one home — a schema registry (Apicurio) — so contracts are versioned and compatibility-checked. Distinguish the two kinds: runtime contracts (Avro for events) are load-bearing in the hot path — the event literally won't serialise without the registered schema; discovery contracts (OpenAPI, Protobuf, SDL) are published so humans, CI and the catalog can find and check them, but nothing fails at runtime if the registry is down. On top sits the catalog (OpenMetadata), which ingests those contracts plus the data sources and assembles lineage — who produces and who consumes. That lineage is what makes the mesh navigable and governable. The next slide separates the two paths so the coupling difference is unmistakable.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conflating the two paths causes real design mistakes. Top — the runtime path: a producer serialises an event against the registered Avro schema and stamps it with a schema id; the consumer fetches that schema by id to deserialise. The registry is online and in the hot path; without it the event can't encode or decode. Bottom — the discovery path: services publish OpenAPI, Protobuf and SDL contracts to the registry; the catalog ingests them along with the database schemas and topics to build lineage. This path is offline — nothing breaks at runtime if it's absent; it exists to be discovered by people, CI and the catalog. The practical guidance: treat runtime contracts as production dependencies with availability requirements; treat discovery contracts as a publishing pipeline. They have very different operational coupling even though they live in the same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into principle 3. The aim: the audience understands that the platform's job is to lower the cost and lead time of building and running a data product, and that it's organised into planes for different users. This is the principle that makes the other three affordable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 argument: if every domain has to stand up its own Kafka, registry, catalog and observability, the cost of producing a data product is so high that teams won't do it — and you're back to a central bottleneck. The platform amortises that cost across all domains. Critically, the platform is itself a product, with the domain teams as its users; success is measured by the lead time to create and operate a data product. The three planes are about meeting different users where they are — platform engineers at the provisioning plane, data-product developers at the experience plane, governance and consumers at the mesh plane. The reference-stack bullet names concrete upstream tools so the abstraction lands; the Red Hat equivalents line is there because many shops will deploy this on OpenShift — AMQ Streams for Kafka, OpenShift Service Mesh for Istio, Service Registry for Apicurio, and so on. The next diagram details the three planes.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to top, because each plane builds on the one below. Infrastructure provisioning plane: the low-level primitives — storage, compute, accounts, networking, identity — used by platform engineers. Data-product developer experience plane: the day-to-day workflow a domain developer uses to build, deploy, test and run a product, with cross-cutting standards (security, naming, observability) applied automatically so compliance is the path of least resistance. Mesh experience plane: the mesh-wide capabilities — discover, search and correlate products — used by data product owners and governance. The design rule: push complexity down and convenience up. A domain developer should never touch the provisioning plane directly. The reference-tools line at the bottom maps each capability to a concrete operator so people can see this isn't hand-wavy.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into principle 4. The aim: the audience understands why a decentralised system still needs governance, what 'federated' and 'computational' each add, and how the platform enforces rules automatically. This is the principle that keeps autonomy from becoming anarchy.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why: decentralisation creates the risk of silos, duplication and incompatible data — the very chaos the mesh is supposed to prevent. Governance is the counterweight, but it's deliberately not centralised control. 'Federated' means a guild — domain data-product owners plus platform owners — makes the global rules together, and each domain keeps autonomy over local decisions. The hard part is equilibrium: which decisions are global (identifiers, security, interoperability) versus local (internal modelling) — and that balance is held by org structure and incentives, not just architecture. 'Computational' is the differentiator from traditional governance: the rules are executable and enforced by the platform automatically. Give the concrete examples — mutual TLS enforced by the service mesh, the registry refusing incompatible schema changes at publish time, the catalog enforcing required ownership/lineage fields. The lesson: if a rule can't be enforced computationally, it will erode. Next diagram shows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is the flow of authority. The federated guild — domain and platform product owners — agrees global policies and standards. Those standards are translated into policy-as-code baked into the self-serve platform. The platform then enforces them automatically across every domain, so each domain follows the standard simply by using the platform. The elegance is that compliance is not a separate audit step — it's a property of deploying on the platform. Tie back to the planes: this is why the developer-experience plane applies cross-cutting standards automatically. And tie forward: in the implementation section we'll see these as admission controllers, mesh authorization policies and CRD validation on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into implementation. We now make the four principles concrete on Kubernetes / OpenShift. Set expectation: we won't do a live demo today — the point is to show that each abstract principle lands on a familiar primitive, so the mesh is buildable with tools the audience already operates. Two architecture diagrams (logical, then a concrete reference), the services that make it real, and the principle-to-primitive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logical view — vendor-neutral, no Kubernetes yet. Top band: federated governance expressed as concrete policy areas (interoperability, documentation, security, privacy, compliance). Middle: domains, each refining operational data into analytical data into a published product, and consuming one another's products — note the consumer-aligned product built from other domains' outputs. Right: an enabling team that accelerates domains with consulting, examples, best practices and templates (this is the team that makes self-service actually adopted). Bottom band: the self-serve platform's capabilities — storage and query, catalog, access management, monitoring, policy automation. Every element on this slide maps to one of the four principles; ask the audience to point at where each principle lives. The next slide swaps these logical boxes for real Kubernetes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concrete realisation. Top lanes: external clients reach the mesh through an ingress gateway (REST) and a GraphQL federation gateway. Middle lane: the domain services, each a data product, each with a service-mesh sidecar and an observability client. Bottom lane: the self-serve platform — Kafka via Strimzi, a schema registry, a catalog, Postgres via an operator, autoscaling, orchestration, and the full observability stack. The colour-coded arrows show the protocol choices: REST at the edge for broad compatibility, gRPC for tight synchronous internal calls, GraphQL to compose reads across products, Kafka for asynchronous events that decouple producers from consumers, and OTLP carrying telemetry down to the observability stack. The headline message: the right protocol for each interaction, not one protocol everywhere. On OpenShift, substitute the Red Hat equivalents named earlier; the topology is identical. Note again — this is a reference architecture, not a live demo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domain data product, owning one schema and exposing the ports that fit its role. order-service is the spine: it takes REST at the edge, calls inventory/payment/shipping over gRPC, answers GraphQL, and publishes an order-placed event. inventory/payment/shipping are gRPC servers that also publish their own events. notification-service is deliberately consumer-only — its job is to react to events, so it has no synchronous surface at all. The gateway composes reads across products. The design rule restated at the bottom: protocols are chosen per interaction, not standardised across the board — that variation is intentional and is what makes the 'right protocol for each interaction' point concrete. Don't dwell on the specific domain; the structure is the lesson, and the same pattern generalises to any set of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 this is what makes the talk land for a Kubernetes audience. Domain ownership is just multi-tenancy: a Namespace per domain with its own ServiceAccounts, RBAC and quotas — the exact story Kubernetes was designed around. Data as a product maps to Services + Deployments (a deployable artifact with a contract) extended by CRDs that add domain types like DataProduct, Topic and SchemaRegistration to the cluster's vocabulary. Self-serve platform is the operator pattern — Strimzi, KEDA, Istio, CloudNativePG install once and turn complex infrastructure into declarative CRs that domains consume. Federated computational governance is enforced at the API boundary by admission controllers, OPA/Gatekeeper, service-mesh authorization policies and CRD validation — the platform rejects non-compliant resources at apply time, which is exactly 'computational governance.' The closing point: a data mesh on Kubernetes isn't exotic; it's the primitives you already run, composed deliberately around four principles. On OpenShift these are the same primitives with Red Hat's supported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to wrap-up. Recap the four principles in one line each, point at references, and open for questions. Keep it tight — the recap should feel like a satisfying click of the pieces fitting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 that' framing — each principle paired with the outcome it buys — is the cleanest way to remember why all four are needed. Domain ownership buys scale-out: you add nodes to the mesh as demand grows instead of growing one central team. Data as a product buys usability across domains. Self-serve platform buys affordability and autonomy. Federated computational governance buys interoperability without re-centralising. Deliver this slowly; it's the moment the audience should feel the four pieces lock together. Then remind them of the meta-point from slide one: this is a pattern realised with tools, and we've shown it lands cleanly on Kubernetes / OpenShift.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people to the primary sources. Dehghani's book is the canonical reference and worth reading end to end; the two martinfowler.com articles are the free, shorter on-ramp and good to share with colleagues. Kubernetes Patterns is the reference for the implementation patterns we touched on — Init Container, Health Probe, Predictable Demands, Configuration Resource. The tooling line lists the upstream projects behind the reference platform; on OpenShift these correspond to the Red Hat products named earlier. Offer to share the slide deck and the editable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the floor. Likely questions to be ready for: (1) 'Isn't this just microservices for data?' — yes in spirit, and that's the point; the four principles add the product, platform and governance discipline. (2) 'Where do we start?' — start with one source-aligned product from a willing domain, on the shared platform, rather than a big-bang reorg. (3) 'Do we need all these tools?' — no; the tools are illustrative, the principles are the requirement. (4) 'How is this different from a data lake/warehouse?' — ownership and topology, not storage technology. Thank the audience and offer the deck and editable diagram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sv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sv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sv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sv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sv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sv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sv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sv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sv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build/assets/geo-light.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160520" y="1371600"/>
            <a:ext cx="4663440" cy="365760"/>
          </a:xfrm>
          <a:prstGeom prst="rect">
            <a:avLst/>
          </a:prstGeom>
          <a:noFill/>
          <a:ln/>
        </p:spPr>
        <p:txBody>
          <a:bodyPr wrap="square" rtlCol="0" anchor="ctr"/>
          <a:lstStyle/>
          <a:p>
            <a:pPr indent="0" marL="0">
              <a:buNone/>
            </a:pPr>
            <a:r>
              <a:rPr lang="en-US" sz="1300" b="1" spc="300" kern="0" dirty="0">
                <a:solidFill>
                  <a:srgbClr val="EE0000"/>
                </a:solidFill>
                <a:latin typeface="Red Hat Text Medium" pitchFamily="34" charset="0"/>
                <a:ea typeface="Red Hat Text Medium" pitchFamily="34" charset="-122"/>
                <a:cs typeface="Red Hat Text Medium" pitchFamily="34" charset="-120"/>
              </a:rPr>
              <a:t>THE DATA MESH</a:t>
            </a:r>
            <a:endParaRPr lang="en-US" sz="1300" dirty="0"/>
          </a:p>
        </p:txBody>
      </p:sp>
      <p:sp>
        <p:nvSpPr>
          <p:cNvPr id="4" name="Text 1"/>
          <p:cNvSpPr/>
          <p:nvPr/>
        </p:nvSpPr>
        <p:spPr>
          <a:xfrm>
            <a:off x="4114800" y="1755648"/>
            <a:ext cx="4754880" cy="1188720"/>
          </a:xfrm>
          <a:prstGeom prst="rect">
            <a:avLst/>
          </a:prstGeom>
          <a:noFill/>
          <a:ln/>
        </p:spPr>
        <p:txBody>
          <a:bodyPr wrap="square"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 working data mesh on Kubernetes</a:t>
            </a:r>
            <a:endParaRPr lang="en-US" sz="3000" dirty="0"/>
          </a:p>
        </p:txBody>
      </p:sp>
      <p:sp>
        <p:nvSpPr>
          <p:cNvPr id="5" name="Text 2"/>
          <p:cNvSpPr/>
          <p:nvPr/>
        </p:nvSpPr>
        <p:spPr>
          <a:xfrm>
            <a:off x="4133088" y="2880360"/>
            <a:ext cx="4663440" cy="457200"/>
          </a:xfrm>
          <a:prstGeom prst="rect">
            <a:avLst/>
          </a:prstGeom>
          <a:noFill/>
          <a:ln/>
        </p:spPr>
        <p:txBody>
          <a:bodyPr wrap="square" rtlCol="0" anchor="ctr"/>
          <a:lstStyle/>
          <a:p>
            <a:pPr indent="0" marL="0">
              <a:buNone/>
            </a:pPr>
            <a:r>
              <a:rPr lang="en-US" sz="1400" i="1" dirty="0">
                <a:solidFill>
                  <a:srgbClr val="5A5A5A"/>
                </a:solidFill>
                <a:latin typeface="Red Hat Text" pitchFamily="34" charset="0"/>
                <a:ea typeface="Red Hat Text" pitchFamily="34" charset="-122"/>
                <a:cs typeface="Red Hat Text" pitchFamily="34" charset="-120"/>
              </a:rPr>
              <a:t>From Dehghani's four principles to a running system</a:t>
            </a:r>
            <a:endParaRPr lang="en-US" sz="1400" dirty="0"/>
          </a:p>
        </p:txBody>
      </p:sp>
      <p:sp>
        <p:nvSpPr>
          <p:cNvPr id="6" name="Text 3"/>
          <p:cNvSpPr/>
          <p:nvPr/>
        </p:nvSpPr>
        <p:spPr>
          <a:xfrm>
            <a:off x="4133088" y="3657600"/>
            <a:ext cx="4572000" cy="640080"/>
          </a:xfrm>
          <a:prstGeom prst="rect">
            <a:avLst/>
          </a:prstGeom>
          <a:noFill/>
          <a:ln/>
        </p:spPr>
        <p:txBody>
          <a:bodyPr wrap="square" rtlCol="0" anchor="ctr"/>
          <a:lstStyle/>
          <a:p>
            <a:pPr indent="0" marL="0">
              <a:buNone/>
            </a:pPr>
            <a:r>
              <a:rPr lang="en-US" sz="1300" b="1" dirty="0">
                <a:solidFill>
                  <a:srgbClr val="151515"/>
                </a:solidFill>
                <a:latin typeface="Red Hat Text" pitchFamily="34" charset="0"/>
                <a:ea typeface="Red Hat Text" pitchFamily="34" charset="-122"/>
                <a:cs typeface="Red Hat Text" pitchFamily="34" charset="-120"/>
              </a:rPr>
              <a:t>Robert Sedor</a:t>
            </a:r>
            <a:endParaRPr lang="en-US" sz="1300" dirty="0"/>
          </a:p>
          <a:p>
            <a:pPr indent="0" marL="0">
              <a:buNone/>
            </a:pPr>
            <a:r>
              <a:rPr lang="en-US" sz="1150" dirty="0">
                <a:solidFill>
                  <a:srgbClr val="5A5A5A"/>
                </a:solidFill>
                <a:latin typeface="Red Hat Text" pitchFamily="34" charset="0"/>
                <a:ea typeface="Red Hat Text" pitchFamily="34" charset="-122"/>
                <a:cs typeface="Red Hat Text" pitchFamily="34" charset="-120"/>
              </a:rPr>
              <a:t>Chief Architect, Application Development</a:t>
            </a:r>
            <a:endParaRPr lang="en-US" sz="1300" dirty="0"/>
          </a:p>
        </p:txBody>
      </p:sp>
      <p:pic>
        <p:nvPicPr>
          <p:cNvPr id="7" name="Image 1" descr="/tmp/build/assets/redhat-logo-black.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THE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Agenda</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640080" y="1417320"/>
            <a:ext cx="3931920" cy="310896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What is a data mesh?</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The four principles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Domain ownership</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Data as a product</a:t>
            </a:r>
            <a:endParaRPr lang="en-US" sz="1450" dirty="0"/>
          </a:p>
        </p:txBody>
      </p:sp>
      <p:sp>
        <p:nvSpPr>
          <p:cNvPr id="6" name="Text 3"/>
          <p:cNvSpPr/>
          <p:nvPr/>
        </p:nvSpPr>
        <p:spPr>
          <a:xfrm>
            <a:off x="4754880" y="1417320"/>
            <a:ext cx="3931920" cy="310896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Self-serve data platform</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Federated computational governance</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Implementation on Kubernetes / OpenShift</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Conclusion</a:t>
            </a:r>
            <a:endParaRPr lang="en-US" sz="1450" dirty="0"/>
          </a:p>
        </p:txBody>
      </p:sp>
      <p:sp>
        <p:nvSpPr>
          <p:cNvPr id="7" name="Text 4"/>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01</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What is a data mesh?</a:t>
            </a:r>
            <a:endParaRPr lang="en-US" sz="3300" dirty="0"/>
          </a:p>
        </p:txBody>
      </p:sp>
      <p:pic>
        <p:nvPicPr>
          <p:cNvPr id="5"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A decentralized approach to data</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A decentralized sociotechnical approach to sharing, accessing and managing analytical data at scale (Dehghani, 2022).</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The shift: stop centralizing data and then carving out access — instead decentralize ownership, so each domain owns its data as a product.</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The platform provides the substrate for those products to publish, discover and govern themselves.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The analogy that lands hardest is microservices: a monolithic data platform refactored into bounded data products owned by domain teams.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Not a product, a tool, or a vendor offering — it is an organizational and architectural pattern.</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A data mesh at a glance</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data-mesh-overview.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1578" y="1170432"/>
            <a:ext cx="7660843"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Domain-owned data products sit between a shared self-serve platform and a set of global standards.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Operational vs. analytical data</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Operational data lives behind a domain's services — transactional, current-state, serving the running business (microservices, APIs).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Analytical data is the temporal, aggregated view of the business's facts over time — feeding reports, BI and ML models.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Historically the two planes are bridged by centralized, brittle pipelines owned by a team that owns neither domain.</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A data mesh keeps both planes owned by the domain, and connects analytical data to the domains best positioned to serve it.</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The two planes and the bridge</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operational-vs-analytical.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 y="1189417"/>
            <a:ext cx="8229600" cy="3208149"/>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Operational systems serve the running business; analytical systems augment decisions — joined by pipelines.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Why centralized data platforms stall</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A central lake / warehouse plus a central data team becomes the bottleneck as sources, consumers and use cases multiply.</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The central team owns the pipelines but not the domains — they understand the lake and the warehouse, not the business meaning of the data.</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Pipelines are fragile: every upstream operational change breaks them, and the team burns time repairing them.</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Consumers struggle to discover data, trust it, or get it in the shape their use case needs.</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The central team as bottleneck</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central-team-bottleneck.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9611" y="1170432"/>
            <a:ext cx="5564777"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Every domain and stakeholder negotiates through one team that owns the data but not the domains.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The shift to domain ownership</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Organizations already run domain-aligned, autonomous teams — domain-driven design, microservices, event-driven architecture.</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Those teams design, build and run their own services and APIs in a self-serve environment — yet still queue behind a central data team for insight.</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Data mesh moves analytical-data ownership to those same domain teams, end to end.</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Shift the responsibility: let domains analyze, serve and consume one another's data directly, across an interconnected mesh.</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We decentralized everything—except data</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decentralization-checklist.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6178" y="1170432"/>
            <a:ext cx="6991643"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The shifts that scaled software delivery, with one box still unchecked: analytical data.</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WHAT IS A DATA MESH</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From a monolithic platform to a mesh</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monolith-to-mesh.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5313" y="1170432"/>
            <a:ext cx="7093373"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Before: one team owns the lake, warehouse and pipelines. After: domains own products under shared governance.</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02</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The four principles</a:t>
            </a:r>
            <a:endParaRPr lang="en-US" sz="3300" dirty="0"/>
          </a:p>
        </p:txBody>
      </p:sp>
      <p:pic>
        <p:nvPicPr>
          <p:cNvPr id="5"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THE FOUR PRINCIPLES</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Four interlocking principles</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four-principles.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5313" y="1170432"/>
            <a:ext cx="7093373"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Each principle depends on the others; together they make a mesh rather than a distributed mess.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03</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Domain ownership</a:t>
            </a:r>
            <a:endParaRPr lang="en-US" sz="3300" dirty="0"/>
          </a:p>
        </p:txBody>
      </p:sp>
      <p:sp>
        <p:nvSpPr>
          <p:cNvPr id="5" name="Text 2"/>
          <p:cNvSpPr/>
          <p:nvPr/>
        </p:nvSpPr>
        <p:spPr>
          <a:xfrm>
            <a:off x="4315968" y="3246120"/>
            <a:ext cx="4480560" cy="822960"/>
          </a:xfrm>
          <a:prstGeom prst="rect">
            <a:avLst/>
          </a:prstGeom>
          <a:noFill/>
          <a:ln/>
        </p:spPr>
        <p:txBody>
          <a:bodyPr wrap="square" rtlCol="0" anchor="ctr"/>
          <a:lstStyle/>
          <a:p>
            <a:pPr indent="0" marL="0">
              <a:buNone/>
            </a:pPr>
            <a:r>
              <a:rPr lang="en-US" sz="1300" i="1" dirty="0">
                <a:solidFill>
                  <a:srgbClr val="FFD9D9"/>
                </a:solidFill>
                <a:latin typeface="Red Hat Text" pitchFamily="34" charset="0"/>
                <a:ea typeface="Red Hat Text" pitchFamily="34" charset="-122"/>
                <a:cs typeface="Red Hat Text" pitchFamily="34" charset="-120"/>
              </a:rPr>
              <a:t>Principle 1</a:t>
            </a:r>
            <a:endParaRPr lang="en-US" sz="1300" dirty="0"/>
          </a:p>
        </p:txBody>
      </p:sp>
      <p:pic>
        <p:nvPicPr>
          <p:cNvPr id="6"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DOMAIN OWNERSHIP</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Domain ownership</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Analytical data is decomposed and owned by domains, aligned to bounded contexts — not handed to a central data team.</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A domain is accountable end to end: ingestion, modeling, serving, quality, lifecycle and schema evolution of its data.</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Domains hide their pipelines as internal implementation detail; what they expose to others is data, through contracts.</a:t>
            </a:r>
            <a:endParaRPr lang="en-US" sz="1450" dirty="0"/>
          </a:p>
          <a:p>
            <a:pPr marL="177800" indent="-177800">
              <a:lnSpc>
                <a:spcPct val="102000"/>
              </a:lnSpc>
              <a:spcAft>
                <a:spcPts val="8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In the reference architecture: independent services, each a bounded context owning one database schema.</a:t>
            </a:r>
            <a:endParaRPr lang="en-US" sz="1450" dirty="0"/>
          </a:p>
          <a:p>
            <a:pPr lvl="1" marL="355600" indent="-177800">
              <a:lnSpc>
                <a:spcPct val="102000"/>
              </a:lnSpc>
              <a:spcAft>
                <a:spcPts val="400"/>
              </a:spcAft>
              <a:buSzPct val="100000"/>
              <a:buChar char="•"/>
            </a:pPr>
            <a:r>
              <a:rPr lang="en-US" sz="1300" dirty="0">
                <a:solidFill>
                  <a:srgbClr val="151515"/>
                </a:solidFill>
                <a:latin typeface="Red Hat Text" pitchFamily="34" charset="0"/>
                <a:ea typeface="Red Hat Text" pitchFamily="34" charset="-122"/>
                <a:cs typeface="Red Hat Text" pitchFamily="34" charset="-120"/>
              </a:rPr>
              <a:t>Ownership maps to Kubernetes Namespaces, ServiceAccounts and RBAC — the team-and-tenancy story Kubernetes was built around.</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DOMAIN OWNERSHIP</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Domain data archetypes</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Source-aligned — facts of the business as they happen, close to the operational systems that emit them (e.g. an order-placed event).</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Aggregate — analytical data composed from several upstream domains into a shared, reusable view.</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Consumer-aligned (fit-for-purpose) — data reshaped for the needs of specific downstream use cases.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Don't expect a single source of truth: embrace the most relevant data per domain, with multiple connected models linked by contracts.</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DOMAIN OWNERSHIP</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Composing analytical data in a domain</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analytical-data-composition.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8902" y="1170432"/>
            <a:ext cx="7366195"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Operational data is refined into events, entities and aggregates, then published as a product.</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DOMAIN OWNERSHIP</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Ingestion, streaming and sourcing</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ingestion-streaming-sourcing.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 y="1259160"/>
            <a:ext cx="8229600" cy="3068664"/>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Domain events stream in real time; change-data-capture brings along existing systems.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04</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Data as a product</a:t>
            </a:r>
            <a:endParaRPr lang="en-US" sz="3300" dirty="0"/>
          </a:p>
        </p:txBody>
      </p:sp>
      <p:sp>
        <p:nvSpPr>
          <p:cNvPr id="5" name="Text 2"/>
          <p:cNvSpPr/>
          <p:nvPr/>
        </p:nvSpPr>
        <p:spPr>
          <a:xfrm>
            <a:off x="4315968" y="3246120"/>
            <a:ext cx="4480560" cy="822960"/>
          </a:xfrm>
          <a:prstGeom prst="rect">
            <a:avLst/>
          </a:prstGeom>
          <a:noFill/>
          <a:ln/>
        </p:spPr>
        <p:txBody>
          <a:bodyPr wrap="square" rtlCol="0" anchor="ctr"/>
          <a:lstStyle/>
          <a:p>
            <a:pPr indent="0" marL="0">
              <a:buNone/>
            </a:pPr>
            <a:r>
              <a:rPr lang="en-US" sz="1300" i="1" dirty="0">
                <a:solidFill>
                  <a:srgbClr val="FFD9D9"/>
                </a:solidFill>
                <a:latin typeface="Red Hat Text" pitchFamily="34" charset="0"/>
                <a:ea typeface="Red Hat Text" pitchFamily="34" charset="-122"/>
                <a:cs typeface="Red Hat Text" pitchFamily="34" charset="-120"/>
              </a:rPr>
              <a:t>Principle 2</a:t>
            </a:r>
            <a:endParaRPr lang="en-US" sz="1300" dirty="0"/>
          </a:p>
        </p:txBody>
      </p:sp>
      <p:pic>
        <p:nvPicPr>
          <p:cNvPr id="6"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DATA AS A PRODUCT</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Apply product thinking to data</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Treat analytical data as a product whose users are other teams — the consumer's experience is the measure of quality.</a:t>
            </a:r>
            <a:endParaRPr lang="en-US" sz="1450" dirty="0"/>
          </a:p>
          <a:p>
            <a:pPr marL="177800" indent="-177800">
              <a:lnSpc>
                <a:spcPct val="102000"/>
              </a:lnSpc>
              <a:spcAft>
                <a:spcPts val="8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Baseline usability attributes a data product must meet:</a:t>
            </a:r>
            <a:endParaRPr lang="en-US" sz="1450" dirty="0"/>
          </a:p>
          <a:p>
            <a:pPr lvl="1" marL="355600" indent="-177800">
              <a:lnSpc>
                <a:spcPct val="102000"/>
              </a:lnSpc>
              <a:spcAft>
                <a:spcPts val="400"/>
              </a:spcAft>
              <a:buSzPct val="100000"/>
              <a:buChar char="•"/>
            </a:pPr>
            <a:r>
              <a:rPr lang="en-US" sz="1300" dirty="0">
                <a:solidFill>
                  <a:srgbClr val="5A5A5A"/>
                </a:solidFill>
                <a:latin typeface="Red Hat Text" pitchFamily="34" charset="0"/>
                <a:ea typeface="Red Hat Text" pitchFamily="34" charset="-122"/>
                <a:cs typeface="Red Hat Text" pitchFamily="34" charset="-120"/>
              </a:rPr>
              <a:t>discoverable · addressable · understandable · trustworthy (with SLOs) · natively accessible · interoperable · valuable on its own · secure</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Each domain carries a data product owner (accountable for usability and quality) working with developers who build and serve it.</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Reframe data from a by-product or asset into a product you are accountable to users for.</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DATA AS A PRODUCT</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The architectural quantum</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A data product is the architectural quantum — the smallest unit that can be independently deployed with high functional cohesion, carrying everything it needs to do its job.</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Code — pipelines that consume and transform upstream data; APIs that serve it; policy-as-code for access control, compliance and provenance.</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Data &amp; metadata — the analytical data in polyglot form (events, tables, files, graphs) plus discoverable schema, documentation and quality / SLOs.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Infrastructure — what it takes to build, deploy and run that code and serve the data and metadata.</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DATA AS A PRODUCT</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Anatomy of a data product</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data-product-anatomy.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5313" y="1170432"/>
            <a:ext cx="7093373"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Input ports in, output ports out, three structural components inside, governed through control ports.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19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DATA AS A PRODUCT</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Contracts, the registry and the catalog</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contracts-registry-catalog.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70165" y="1170432"/>
            <a:ext cx="5803669"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Every protocol's contract gets a versioned home; the catalog builds lineage and discovery on top.</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DATA AS A PRODUCT</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Contract flow: runtime vs. discovery</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contract-flow.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79982" y="1170432"/>
            <a:ext cx="6384036"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One registry, two jobs: hot-path serialization for events, and offline publish-and-ingest for discovery.</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05</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Self-serve data platform</a:t>
            </a:r>
            <a:endParaRPr lang="en-US" sz="3300" dirty="0"/>
          </a:p>
        </p:txBody>
      </p:sp>
      <p:sp>
        <p:nvSpPr>
          <p:cNvPr id="5" name="Text 2"/>
          <p:cNvSpPr/>
          <p:nvPr/>
        </p:nvSpPr>
        <p:spPr>
          <a:xfrm>
            <a:off x="4315968" y="3246120"/>
            <a:ext cx="4480560" cy="822960"/>
          </a:xfrm>
          <a:prstGeom prst="rect">
            <a:avLst/>
          </a:prstGeom>
          <a:noFill/>
          <a:ln/>
        </p:spPr>
        <p:txBody>
          <a:bodyPr wrap="square" rtlCol="0" anchor="ctr"/>
          <a:lstStyle/>
          <a:p>
            <a:pPr indent="0" marL="0">
              <a:buNone/>
            </a:pPr>
            <a:r>
              <a:rPr lang="en-US" sz="1300" i="1" dirty="0">
                <a:solidFill>
                  <a:srgbClr val="FFD9D9"/>
                </a:solidFill>
                <a:latin typeface="Red Hat Text" pitchFamily="34" charset="0"/>
                <a:ea typeface="Red Hat Text" pitchFamily="34" charset="-122"/>
                <a:cs typeface="Red Hat Text" pitchFamily="34" charset="-120"/>
              </a:rPr>
              <a:t>Principle 3</a:t>
            </a:r>
            <a:endParaRPr lang="en-US" sz="1300" dirty="0"/>
          </a:p>
        </p:txBody>
      </p:sp>
      <p:pic>
        <p:nvPicPr>
          <p:cNvPr id="6"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SELF-SERVE DATA PLATFORM</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Platform thinking for data infrastructure</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Domain teams should not each build Kafka, a registry, a catalog or observability — the platform provides these as shared infrastructure.</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It lowers the lead time and cost of creating and running a data product, giving domains autonomy without specialist data-infra skills per team.</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Three planes: infrastructure provisioning (low-level storage, compute, accounts); data-product developer experience (the daily workflow, with cross-cutting standards applied automatically); mesh supervision (discover and correlate products across the mesh).</a:t>
            </a:r>
            <a:endParaRPr lang="en-US" sz="1450" dirty="0"/>
          </a:p>
          <a:p>
            <a:pPr marL="177800" indent="-177800">
              <a:lnSpc>
                <a:spcPct val="102000"/>
              </a:lnSpc>
              <a:spcAft>
                <a:spcPts val="8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Reference platform: Kafka (Strimzi) · KEDA · Istio · Apicurio · OpenMetadata · CloudNativePG · Prefect · OTEL + Prometheus + Grafana + Tempo — installed as operators and shared cluster infra.</a:t>
            </a:r>
            <a:endParaRPr lang="en-US" sz="1450" dirty="0"/>
          </a:p>
          <a:p>
            <a:pPr lvl="1" marL="355600" indent="-177800">
              <a:lnSpc>
                <a:spcPct val="102000"/>
              </a:lnSpc>
              <a:spcAft>
                <a:spcPts val="400"/>
              </a:spcAft>
              <a:buSzPct val="100000"/>
              <a:buChar char="•"/>
            </a:pPr>
            <a:r>
              <a:rPr lang="en-US" sz="1200" dirty="0">
                <a:solidFill>
                  <a:srgbClr val="5A5A5A"/>
                </a:solidFill>
                <a:latin typeface="Red Hat Text" pitchFamily="34" charset="0"/>
                <a:ea typeface="Red Hat Text" pitchFamily="34" charset="-122"/>
                <a:cs typeface="Red Hat Text" pitchFamily="34" charset="-120"/>
              </a:rPr>
              <a:t>Red Hat equivalents: AMQ Streams, OpenShift Service Mesh, Service Registry, OpenShift Connectors / Camel K, OpenShift Serverless.</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SELF-SERVE DATA PLATFORM</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Three planes of the platform</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platform-planes.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8902" y="1170432"/>
            <a:ext cx="7366195"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Different abstractions for different users — from raw infrastructure up to mesh-wide discovery.</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06</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Federated computational governance</a:t>
            </a:r>
            <a:endParaRPr lang="en-US" sz="3300" dirty="0"/>
          </a:p>
        </p:txBody>
      </p:sp>
      <p:sp>
        <p:nvSpPr>
          <p:cNvPr id="5" name="Text 2"/>
          <p:cNvSpPr/>
          <p:nvPr/>
        </p:nvSpPr>
        <p:spPr>
          <a:xfrm>
            <a:off x="4315968" y="3246120"/>
            <a:ext cx="4480560" cy="822960"/>
          </a:xfrm>
          <a:prstGeom prst="rect">
            <a:avLst/>
          </a:prstGeom>
          <a:noFill/>
          <a:ln/>
        </p:spPr>
        <p:txBody>
          <a:bodyPr wrap="square" rtlCol="0" anchor="ctr"/>
          <a:lstStyle/>
          <a:p>
            <a:pPr indent="0" marL="0">
              <a:buNone/>
            </a:pPr>
            <a:r>
              <a:rPr lang="en-US" sz="1300" i="1" dirty="0">
                <a:solidFill>
                  <a:srgbClr val="FFD9D9"/>
                </a:solidFill>
                <a:latin typeface="Red Hat Text" pitchFamily="34" charset="0"/>
                <a:ea typeface="Red Hat Text" pitchFamily="34" charset="-122"/>
                <a:cs typeface="Red Hat Text" pitchFamily="34" charset="-120"/>
              </a:rPr>
              <a:t>Principle 4</a:t>
            </a:r>
            <a:endParaRPr lang="en-US" sz="1300" dirty="0"/>
          </a:p>
        </p:txBody>
      </p:sp>
      <p:pic>
        <p:nvPicPr>
          <p:cNvPr id="6"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FEDERATED COMPUTATIONAL GOVERNANCE</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Standards the platform enforces</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A mesh only delivers value if independent products interoperate — to correlate, join, intersect and query across domains at scale.</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Governance is federated: a guild of domain data-product owners and platform owners, each with autonomy and domain-local decision-making power, agreeing a set of global rules.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It must hold the equilibrium between centralization and decentralization — supported by organizational structure, an incentive model and architecture.</a:t>
            </a:r>
            <a:endParaRPr lang="en-US" sz="1450" dirty="0"/>
          </a:p>
          <a:p>
            <a:pPr marL="177800" indent="-177800">
              <a:lnSpc>
                <a:spcPct val="102000"/>
              </a:lnSpc>
              <a:spcAft>
                <a:spcPts val="8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Computational: rules are enforced by the platform, not by documents and meetings.</a:t>
            </a:r>
            <a:endParaRPr lang="en-US" sz="1450" dirty="0"/>
          </a:p>
          <a:p>
            <a:pPr lvl="1" marL="355600" indent="-177800">
              <a:lnSpc>
                <a:spcPct val="102000"/>
              </a:lnSpc>
              <a:spcAft>
                <a:spcPts val="400"/>
              </a:spcAft>
              <a:buSzPct val="100000"/>
              <a:buChar char="•"/>
            </a:pPr>
            <a:r>
              <a:rPr lang="en-US" sz="1300" dirty="0">
                <a:solidFill>
                  <a:srgbClr val="151515"/>
                </a:solidFill>
                <a:latin typeface="Red Hat Text" pitchFamily="34" charset="0"/>
                <a:ea typeface="Red Hat Text" pitchFamily="34" charset="-122"/>
                <a:cs typeface="Red Hat Text" pitchFamily="34" charset="-120"/>
              </a:rPr>
              <a:t>Reference enforcement: Istio mTLS between meshed services; the registry rejecting schema-incompatible changes at publish time; required-field and lineage policies in the catalog.</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FEDERATED COMPUTATIONAL GOVERNANCE</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The governance model</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federated-governance-model.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8902" y="1170432"/>
            <a:ext cx="7366195"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guild sets global rules; the platform turns them into automated enforcement across domains.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07</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Implementation on Kubernetes / OpenShift</a:t>
            </a:r>
            <a:endParaRPr lang="en-US" sz="3300" dirty="0"/>
          </a:p>
        </p:txBody>
      </p:sp>
      <p:pic>
        <p:nvPicPr>
          <p:cNvPr id="5"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IMPLEMENTATION</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Logical data mesh architecture</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logical-mesh-architecture.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82950" y="1170432"/>
            <a:ext cx="6178099"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Federated governance on top, interconnected data products in the middle, a self-serve platform underneath.</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IMPLEMENTATION</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A reference architecture</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pic>
        <p:nvPicPr>
          <p:cNvPr id="5" name="Image 1" descr="/tmp/build/diagrams/reference-data-mesh-architecture.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42556" y="1170432"/>
            <a:ext cx="5058888" cy="3246120"/>
          </a:xfrm>
          <a:prstGeom prst="rect">
            <a:avLst/>
          </a:prstGeom>
        </p:spPr>
      </p:pic>
      <p:sp>
        <p:nvSpPr>
          <p:cNvPr id="6" name="Text 2"/>
          <p:cNvSpPr/>
          <p:nvPr/>
        </p:nvSpPr>
        <p:spPr>
          <a:xfrm>
            <a:off x="457200" y="4526280"/>
            <a:ext cx="8229600" cy="274320"/>
          </a:xfrm>
          <a:prstGeom prst="rect">
            <a:avLst/>
          </a:prstGeom>
          <a:noFill/>
          <a:ln/>
        </p:spPr>
        <p:txBody>
          <a:bodyPr wrap="square" rtlCol="0" anchor="ctr"/>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REST at the edge, gRPC for internal sync, GraphQL composing reads, Kafka for async events.</a:t>
            </a:r>
            <a:endParaRPr lang="en-US" sz="105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IMPLEMENTATION</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The data products, plus a gateway</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1920240"/>
                <a:gridCol w="1554480"/>
                <a:gridCol w="4663440"/>
              </a:tblGrid>
              <a:tr h="384048">
                <a:tc>
                  <a:txBody>
                    <a:bodyPr/>
                    <a:lstStyle/>
                    <a:p>
                      <a:pPr indent="0" marL="0">
                        <a:buNone/>
                      </a:pPr>
                      <a:r>
                        <a:rPr lang="en-US" sz="1200" b="1" dirty="0">
                          <a:solidFill>
                            <a:srgbClr val="1A3A6A"/>
                          </a:solidFill>
                          <a:latin typeface="Red Hat Text Medium" pitchFamily="34" charset="0"/>
                          <a:ea typeface="Red Hat Text Medium" pitchFamily="34" charset="-122"/>
                          <a:cs typeface="Red Hat Text Medium" pitchFamily="34" charset="-120"/>
                        </a:rPr>
                        <a:t>order-service</a:t>
                      </a:r>
                      <a:endParaRPr lang="en-US" sz="1200" dirty="0">
                        <a:latin typeface="Red Hat Text Medium" charset="0"/>
                        <a:ea typeface="Red Hat Text Medium" charset="0"/>
                        <a:cs typeface="Red Hat Text Medium"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200" dirty="0">
                          <a:solidFill>
                            <a:srgbClr val="151515"/>
                          </a:solidFill>
                          <a:latin typeface="Red Hat Text" pitchFamily="34" charset="0"/>
                          <a:ea typeface="Red Hat Text" pitchFamily="34" charset="-122"/>
                          <a:cs typeface="Red Hat Text" pitchFamily="34" charset="-120"/>
                        </a:rPr>
                        <a:t>order lifecycle</a:t>
                      </a:r>
                      <a:endParaRPr lang="en-US" sz="12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100" dirty="0">
                          <a:solidFill>
                            <a:srgbClr val="5A5A5A"/>
                          </a:solidFill>
                          <a:latin typeface="Red Hat Text" pitchFamily="34" charset="0"/>
                          <a:ea typeface="Red Hat Text" pitchFamily="34" charset="-122"/>
                          <a:cs typeface="Red Hat Text" pitchFamily="34" charset="-120"/>
                        </a:rPr>
                        <a:t>REST (edge) · gRPC client · GraphQL · publishes order.placed</a:t>
                      </a:r>
                      <a:endParaRPr lang="en-US" sz="11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r>
              <a:tr h="384048">
                <a:tc>
                  <a:txBody>
                    <a:bodyPr/>
                    <a:lstStyle/>
                    <a:p>
                      <a:pPr indent="0" marL="0">
                        <a:buNone/>
                      </a:pPr>
                      <a:r>
                        <a:rPr lang="en-US" sz="1200" b="1" dirty="0">
                          <a:solidFill>
                            <a:srgbClr val="1A3A6A"/>
                          </a:solidFill>
                          <a:latin typeface="Red Hat Text Medium" pitchFamily="34" charset="0"/>
                          <a:ea typeface="Red Hat Text Medium" pitchFamily="34" charset="-122"/>
                          <a:cs typeface="Red Hat Text Medium" pitchFamily="34" charset="-120"/>
                        </a:rPr>
                        <a:t>inventory-service</a:t>
                      </a:r>
                      <a:endParaRPr lang="en-US" sz="1200" dirty="0">
                        <a:latin typeface="Red Hat Text Medium" charset="0"/>
                        <a:ea typeface="Red Hat Text Medium" charset="0"/>
                        <a:cs typeface="Red Hat Text Medium"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200" dirty="0">
                          <a:solidFill>
                            <a:srgbClr val="151515"/>
                          </a:solidFill>
                          <a:latin typeface="Red Hat Text" pitchFamily="34" charset="0"/>
                          <a:ea typeface="Red Hat Text" pitchFamily="34" charset="-122"/>
                          <a:cs typeface="Red Hat Text" pitchFamily="34" charset="-120"/>
                        </a:rPr>
                        <a:t>stock levels</a:t>
                      </a:r>
                      <a:endParaRPr lang="en-US" sz="12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100" dirty="0">
                          <a:solidFill>
                            <a:srgbClr val="5A5A5A"/>
                          </a:solidFill>
                          <a:latin typeface="Red Hat Text" pitchFamily="34" charset="0"/>
                          <a:ea typeface="Red Hat Text" pitchFamily="34" charset="-122"/>
                          <a:cs typeface="Red Hat Text" pitchFamily="34" charset="-120"/>
                        </a:rPr>
                        <a:t>gRPC server · GraphQL · Kafka</a:t>
                      </a:r>
                      <a:endParaRPr lang="en-US" sz="11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r>
              <a:tr h="384048">
                <a:tc>
                  <a:txBody>
                    <a:bodyPr/>
                    <a:lstStyle/>
                    <a:p>
                      <a:pPr indent="0" marL="0">
                        <a:buNone/>
                      </a:pPr>
                      <a:r>
                        <a:rPr lang="en-US" sz="1200" b="1" dirty="0">
                          <a:solidFill>
                            <a:srgbClr val="1A3A6A"/>
                          </a:solidFill>
                          <a:latin typeface="Red Hat Text Medium" pitchFamily="34" charset="0"/>
                          <a:ea typeface="Red Hat Text Medium" pitchFamily="34" charset="-122"/>
                          <a:cs typeface="Red Hat Text Medium" pitchFamily="34" charset="-120"/>
                        </a:rPr>
                        <a:t>payment-service</a:t>
                      </a:r>
                      <a:endParaRPr lang="en-US" sz="1200" dirty="0">
                        <a:latin typeface="Red Hat Text Medium" charset="0"/>
                        <a:ea typeface="Red Hat Text Medium" charset="0"/>
                        <a:cs typeface="Red Hat Text Medium"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200" dirty="0">
                          <a:solidFill>
                            <a:srgbClr val="151515"/>
                          </a:solidFill>
                          <a:latin typeface="Red Hat Text" pitchFamily="34" charset="0"/>
                          <a:ea typeface="Red Hat Text" pitchFamily="34" charset="-122"/>
                          <a:cs typeface="Red Hat Text" pitchFamily="34" charset="-120"/>
                        </a:rPr>
                        <a:t>payments</a:t>
                      </a:r>
                      <a:endParaRPr lang="en-US" sz="12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100" dirty="0">
                          <a:solidFill>
                            <a:srgbClr val="5A5A5A"/>
                          </a:solidFill>
                          <a:latin typeface="Red Hat Text" pitchFamily="34" charset="0"/>
                          <a:ea typeface="Red Hat Text" pitchFamily="34" charset="-122"/>
                          <a:cs typeface="Red Hat Text" pitchFamily="34" charset="-120"/>
                        </a:rPr>
                        <a:t>gRPC server · GraphQL · Kafka</a:t>
                      </a:r>
                      <a:endParaRPr lang="en-US" sz="11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r>
              <a:tr h="384048">
                <a:tc>
                  <a:txBody>
                    <a:bodyPr/>
                    <a:lstStyle/>
                    <a:p>
                      <a:pPr indent="0" marL="0">
                        <a:buNone/>
                      </a:pPr>
                      <a:r>
                        <a:rPr lang="en-US" sz="1200" b="1" dirty="0">
                          <a:solidFill>
                            <a:srgbClr val="1A3A6A"/>
                          </a:solidFill>
                          <a:latin typeface="Red Hat Text Medium" pitchFamily="34" charset="0"/>
                          <a:ea typeface="Red Hat Text Medium" pitchFamily="34" charset="-122"/>
                          <a:cs typeface="Red Hat Text Medium" pitchFamily="34" charset="-120"/>
                        </a:rPr>
                        <a:t>shipping-service</a:t>
                      </a:r>
                      <a:endParaRPr lang="en-US" sz="1200" dirty="0">
                        <a:latin typeface="Red Hat Text Medium" charset="0"/>
                        <a:ea typeface="Red Hat Text Medium" charset="0"/>
                        <a:cs typeface="Red Hat Text Medium"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200" dirty="0">
                          <a:solidFill>
                            <a:srgbClr val="151515"/>
                          </a:solidFill>
                          <a:latin typeface="Red Hat Text" pitchFamily="34" charset="0"/>
                          <a:ea typeface="Red Hat Text" pitchFamily="34" charset="-122"/>
                          <a:cs typeface="Red Hat Text" pitchFamily="34" charset="-120"/>
                        </a:rPr>
                        <a:t>shipments</a:t>
                      </a:r>
                      <a:endParaRPr lang="en-US" sz="12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100" dirty="0">
                          <a:solidFill>
                            <a:srgbClr val="5A5A5A"/>
                          </a:solidFill>
                          <a:latin typeface="Red Hat Text" pitchFamily="34" charset="0"/>
                          <a:ea typeface="Red Hat Text" pitchFamily="34" charset="-122"/>
                          <a:cs typeface="Red Hat Text" pitchFamily="34" charset="-120"/>
                        </a:rPr>
                        <a:t>gRPC server · GraphQL · Kafka</a:t>
                      </a:r>
                      <a:endParaRPr lang="en-US" sz="11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r>
              <a:tr h="384048">
                <a:tc>
                  <a:txBody>
                    <a:bodyPr/>
                    <a:lstStyle/>
                    <a:p>
                      <a:pPr indent="0" marL="0">
                        <a:buNone/>
                      </a:pPr>
                      <a:r>
                        <a:rPr lang="en-US" sz="1200" b="1" dirty="0">
                          <a:solidFill>
                            <a:srgbClr val="1A3A6A"/>
                          </a:solidFill>
                          <a:latin typeface="Red Hat Text Medium" pitchFamily="34" charset="0"/>
                          <a:ea typeface="Red Hat Text Medium" pitchFamily="34" charset="-122"/>
                          <a:cs typeface="Red Hat Text Medium" pitchFamily="34" charset="-120"/>
                        </a:rPr>
                        <a:t>notification-service</a:t>
                      </a:r>
                      <a:endParaRPr lang="en-US" sz="1200" dirty="0">
                        <a:latin typeface="Red Hat Text Medium" charset="0"/>
                        <a:ea typeface="Red Hat Text Medium" charset="0"/>
                        <a:cs typeface="Red Hat Text Medium"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200" dirty="0">
                          <a:solidFill>
                            <a:srgbClr val="151515"/>
                          </a:solidFill>
                          <a:latin typeface="Red Hat Text" pitchFamily="34" charset="0"/>
                          <a:ea typeface="Red Hat Text" pitchFamily="34" charset="-122"/>
                          <a:cs typeface="Red Hat Text" pitchFamily="34" charset="-120"/>
                        </a:rPr>
                        <a:t>notifications</a:t>
                      </a:r>
                      <a:endParaRPr lang="en-US" sz="12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100" dirty="0">
                          <a:solidFill>
                            <a:srgbClr val="5A5A5A"/>
                          </a:solidFill>
                          <a:latin typeface="Red Hat Text" pitchFamily="34" charset="0"/>
                          <a:ea typeface="Red Hat Text" pitchFamily="34" charset="-122"/>
                          <a:cs typeface="Red Hat Text" pitchFamily="34" charset="-120"/>
                        </a:rPr>
                        <a:t>Kafka consumer-only — reacts to events</a:t>
                      </a:r>
                      <a:endParaRPr lang="en-US" sz="11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r>
              <a:tr h="384048">
                <a:tc>
                  <a:txBody>
                    <a:bodyPr/>
                    <a:lstStyle/>
                    <a:p>
                      <a:pPr indent="0" marL="0">
                        <a:buNone/>
                      </a:pPr>
                      <a:r>
                        <a:rPr lang="en-US" sz="1200" b="1" dirty="0">
                          <a:solidFill>
                            <a:srgbClr val="1A3A6A"/>
                          </a:solidFill>
                          <a:latin typeface="Red Hat Text Medium" pitchFamily="34" charset="0"/>
                          <a:ea typeface="Red Hat Text Medium" pitchFamily="34" charset="-122"/>
                          <a:cs typeface="Red Hat Text Medium" pitchFamily="34" charset="-120"/>
                        </a:rPr>
                        <a:t>graphql-gateway</a:t>
                      </a:r>
                      <a:endParaRPr lang="en-US" sz="1200" dirty="0">
                        <a:latin typeface="Red Hat Text Medium" charset="0"/>
                        <a:ea typeface="Red Hat Text Medium" charset="0"/>
                        <a:cs typeface="Red Hat Text Medium"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200" dirty="0">
                          <a:solidFill>
                            <a:srgbClr val="151515"/>
                          </a:solidFill>
                          <a:latin typeface="Red Hat Text" pitchFamily="34" charset="0"/>
                          <a:ea typeface="Red Hat Text" pitchFamily="34" charset="-122"/>
                          <a:cs typeface="Red Hat Text" pitchFamily="34" charset="-120"/>
                        </a:rPr>
                        <a:t>federated reads</a:t>
                      </a:r>
                      <a:endParaRPr lang="en-US" sz="12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c>
                  <a:txBody>
                    <a:bodyPr/>
                    <a:lstStyle/>
                    <a:p>
                      <a:pPr indent="0" marL="0">
                        <a:buNone/>
                      </a:pPr>
                      <a:r>
                        <a:rPr lang="en-US" sz="1100" dirty="0">
                          <a:solidFill>
                            <a:srgbClr val="5A5A5A"/>
                          </a:solidFill>
                          <a:latin typeface="Red Hat Text" pitchFamily="34" charset="0"/>
                          <a:ea typeface="Red Hat Text" pitchFamily="34" charset="-122"/>
                          <a:cs typeface="Red Hat Text" pitchFamily="34" charset="-120"/>
                        </a:rPr>
                        <a:t>composes one query across products (REST + gRPC)</a:t>
                      </a:r>
                      <a:endParaRPr lang="en-US" sz="1100" dirty="0">
                        <a:latin typeface="Red Hat Text" charset="0"/>
                        <a:ea typeface="Red Hat Text" charset="0"/>
                        <a:cs typeface="Red Hat Text" charset="0"/>
                      </a:endParaRPr>
                    </a:p>
                  </a:txBody>
                  <a:tcPr marL="76200" marR="76200" marT="25400" marB="25400" anchor="ctr">
                    <a:lnL w="6350" cap="flat" cmpd="sng" algn="ctr">
                      <a:solidFill>
                        <a:srgbClr val="E6E0D6"/>
                      </a:solidFill>
                      <a:prstDash val="solid"/>
                      <a:round/>
                      <a:headEnd type="none" w="med" len="med"/>
                      <a:tailEnd type="none" w="med" len="med"/>
                    </a:lnL>
                    <a:lnR w="6350" cap="flat" cmpd="sng" algn="ctr">
                      <a:solidFill>
                        <a:srgbClr val="E6E0D6"/>
                      </a:solidFill>
                      <a:prstDash val="solid"/>
                      <a:round/>
                      <a:headEnd type="none" w="med" len="med"/>
                      <a:tailEnd type="none" w="med" len="med"/>
                    </a:lnR>
                    <a:lnT w="6350" cap="flat" cmpd="sng" algn="ctr">
                      <a:solidFill>
                        <a:srgbClr val="E6E0D6"/>
                      </a:solidFill>
                      <a:prstDash val="solid"/>
                      <a:round/>
                      <a:headEnd type="none" w="med" len="med"/>
                      <a:tailEnd type="none" w="med" len="med"/>
                    </a:lnT>
                    <a:lnB w="6350" cap="flat" cmpd="sng" algn="ctr">
                      <a:solidFill>
                        <a:srgbClr val="E6E0D6"/>
                      </a:solidFill>
                      <a:prstDash val="solid"/>
                      <a:round/>
                      <a:headEnd type="none" w="med" len="med"/>
                      <a:tailEnd type="none" w="med" len="med"/>
                    </a:lnB>
                    <a:solidFill>
                      <a:srgbClr val="FBFAF7"/>
                    </a:solidFill>
                  </a:tcPr>
                </a:tc>
              </a:tr>
            </a:tbl>
          </a:graphicData>
        </a:graphic>
      </p:graphicFrame>
      <p:sp>
        <p:nvSpPr>
          <p:cNvPr id="6" name="Text 2"/>
          <p:cNvSpPr/>
          <p:nvPr/>
        </p:nvSpPr>
        <p:spPr>
          <a:xfrm>
            <a:off x="502920" y="3977640"/>
            <a:ext cx="8138160" cy="640080"/>
          </a:xfrm>
          <a:prstGeom prst="rect">
            <a:avLst/>
          </a:prstGeom>
          <a:noFill/>
          <a:ln/>
        </p:spPr>
        <p:txBody>
          <a:bodyPr wrap="square" rtlCol="0" anchor="ctr"/>
          <a:lstStyle/>
          <a:p>
            <a:pPr indent="0" marL="0">
              <a:buNone/>
            </a:pPr>
            <a:r>
              <a:rPr lang="en-US" sz="1200" i="1" dirty="0">
                <a:solidFill>
                  <a:srgbClr val="151515"/>
                </a:solidFill>
                <a:latin typeface="Red Hat Text" pitchFamily="34" charset="0"/>
                <a:ea typeface="Red Hat Text" pitchFamily="34" charset="-122"/>
                <a:cs typeface="Red Hat Text" pitchFamily="34" charset="-120"/>
              </a:rPr>
              <a:t>Each product exposes only the protocols that fit its role — not a uniform multi-protocol surface. notification-service is Kafka-only by design.</a:t>
            </a:r>
            <a:endParaRPr lang="en-US" sz="1200" dirty="0"/>
          </a:p>
        </p:txBody>
      </p:sp>
      <p:sp>
        <p:nvSpPr>
          <p:cNvPr id="7"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IMPLEMENTATION</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Mapping the four principles to Kubernetes</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Domain ownership  →  Namespaces, ServiceAccounts, RBAC and resource quotas — one tenant per domain.</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Data as a product  →  Services + Deployments + CRDs — a deployable artifact with a contract; CRDs extend the type system (DataProduct, Topic, SchemaRegistration).</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Self-serve data platform  →  operators (Strimzi, KEDA, Istio, CloudNativePG), platform addons and shared observability.</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Federated computational governance  →  admission control, OPA / Gatekeeper, service-mesh authorization policies and CRD validation — enforced at the boundary.</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29</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1737360"/>
            <a:ext cx="4389120" cy="457200"/>
          </a:xfrm>
          <a:prstGeom prst="rect">
            <a:avLst/>
          </a:prstGeom>
          <a:noFill/>
          <a:ln/>
        </p:spPr>
        <p:txBody>
          <a:bodyPr wrap="square" rtlCol="0" anchor="ctr"/>
          <a:lstStyle/>
          <a:p>
            <a:pPr indent="0" marL="0">
              <a:buNone/>
            </a:pPr>
            <a:r>
              <a:rPr lang="en-US" sz="1500" b="1" spc="200" kern="0" dirty="0">
                <a:solidFill>
                  <a:srgbClr val="FFB3B3"/>
                </a:solidFill>
                <a:latin typeface="Red Hat Text Medium" pitchFamily="34" charset="0"/>
                <a:ea typeface="Red Hat Text Medium" pitchFamily="34" charset="-122"/>
                <a:cs typeface="Red Hat Text Medium" pitchFamily="34" charset="-120"/>
              </a:rPr>
              <a:t>08</a:t>
            </a:r>
            <a:endParaRPr lang="en-US" sz="1500" dirty="0"/>
          </a:p>
        </p:txBody>
      </p:sp>
      <p:sp>
        <p:nvSpPr>
          <p:cNvPr id="4" name="Text 1"/>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Conclusion</a:t>
            </a:r>
            <a:endParaRPr lang="en-US" sz="3300" dirty="0"/>
          </a:p>
        </p:txBody>
      </p:sp>
      <p:pic>
        <p:nvPicPr>
          <p:cNvPr id="5"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CONCLUSION</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The four principles, in one line each</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280160"/>
            <a:ext cx="8138160" cy="3200400"/>
          </a:xfrm>
          <a:prstGeom prst="rect">
            <a:avLst/>
          </a:prstGeom>
          <a:noFill/>
          <a:ln/>
        </p:spPr>
        <p:txBody>
          <a:bodyPr wrap="square" rtlCol="0" anchor="t"/>
          <a:lstStyle/>
          <a:p>
            <a:pPr marL="177800" indent="-177800">
              <a:lnSpc>
                <a:spcPct val="102000"/>
              </a:lnSpc>
              <a:spcAft>
                <a:spcPts val="1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Domain ownership</a:t>
            </a:r>
            <a:endParaRPr lang="en-US" sz="1450" dirty="0"/>
          </a:p>
          <a:p>
            <a:pPr lvl="1" marL="355600" indent="-177800">
              <a:lnSpc>
                <a:spcPct val="102000"/>
              </a:lnSpc>
              <a:spcAft>
                <a:spcPts val="400"/>
              </a:spcAft>
              <a:buSzPct val="100000"/>
              <a:buChar char="•"/>
            </a:pPr>
            <a:r>
              <a:rPr lang="en-US" sz="1300" dirty="0">
                <a:solidFill>
                  <a:srgbClr val="151515"/>
                </a:solidFill>
                <a:latin typeface="Red Hat Text" pitchFamily="34" charset="0"/>
                <a:ea typeface="Red Hat Text" pitchFamily="34" charset="-122"/>
                <a:cs typeface="Red Hat Text" pitchFamily="34" charset="-120"/>
              </a:rPr>
              <a:t>so the ecosystem of producers and consumers scales out — add autonomous nodes as sources, use cases and access models grow.</a:t>
            </a:r>
            <a:endParaRPr lang="en-US" sz="1450" dirty="0"/>
          </a:p>
          <a:p>
            <a:pPr marL="177800" indent="-177800">
              <a:lnSpc>
                <a:spcPct val="102000"/>
              </a:lnSpc>
              <a:spcAft>
                <a:spcPts val="1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Data as a product</a:t>
            </a:r>
            <a:endParaRPr lang="en-US" sz="1450" dirty="0"/>
          </a:p>
          <a:p>
            <a:pPr lvl="1" marL="355600" indent="-177800">
              <a:lnSpc>
                <a:spcPct val="102000"/>
              </a:lnSpc>
              <a:spcAft>
                <a:spcPts val="400"/>
              </a:spcAft>
              <a:buSzPct val="100000"/>
              <a:buChar char="•"/>
            </a:pPr>
            <a:r>
              <a:rPr lang="en-US" sz="1300" dirty="0">
                <a:solidFill>
                  <a:srgbClr val="151515"/>
                </a:solidFill>
                <a:latin typeface="Red Hat Text" pitchFamily="34" charset="0"/>
                <a:ea typeface="Red Hat Text" pitchFamily="34" charset="-122"/>
                <a:cs typeface="Red Hat Text" pitchFamily="34" charset="-120"/>
              </a:rPr>
              <a:t>so consumers can discover, understand and trust data spread across many domains, with a genuinely good experience.</a:t>
            </a:r>
            <a:endParaRPr lang="en-US" sz="1450" dirty="0"/>
          </a:p>
          <a:p>
            <a:pPr marL="177800" indent="-177800">
              <a:lnSpc>
                <a:spcPct val="102000"/>
              </a:lnSpc>
              <a:spcAft>
                <a:spcPts val="1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Self-serve data platform</a:t>
            </a:r>
            <a:endParaRPr lang="en-US" sz="1450" dirty="0"/>
          </a:p>
          <a:p>
            <a:pPr lvl="1" marL="355600" indent="-177800">
              <a:lnSpc>
                <a:spcPct val="102000"/>
              </a:lnSpc>
              <a:spcAft>
                <a:spcPts val="400"/>
              </a:spcAft>
              <a:buSzPct val="100000"/>
              <a:buChar char="•"/>
            </a:pPr>
            <a:r>
              <a:rPr lang="en-US" sz="1300" dirty="0">
                <a:solidFill>
                  <a:srgbClr val="151515"/>
                </a:solidFill>
                <a:latin typeface="Red Hat Text" pitchFamily="34" charset="0"/>
                <a:ea typeface="Red Hat Text" pitchFamily="34" charset="-122"/>
                <a:cs typeface="Red Hat Text" pitchFamily="34" charset="-120"/>
              </a:rPr>
              <a:t>so domain teams build and consume products autonomously while the platform hides the complexity of running them.</a:t>
            </a:r>
            <a:endParaRPr lang="en-US" sz="1450" dirty="0"/>
          </a:p>
          <a:p>
            <a:pPr marL="177800" indent="-177800">
              <a:lnSpc>
                <a:spcPct val="102000"/>
              </a:lnSpc>
              <a:spcAft>
                <a:spcPts val="100"/>
              </a:spcAft>
              <a:buSzPct val="100000"/>
              <a:buChar char="•"/>
            </a:pPr>
            <a:r>
              <a:rPr lang="en-US" sz="1450" b="1" dirty="0">
                <a:solidFill>
                  <a:srgbClr val="151515"/>
                </a:solidFill>
                <a:latin typeface="Red Hat Text" pitchFamily="34" charset="0"/>
                <a:ea typeface="Red Hat Text" pitchFamily="34" charset="-122"/>
                <a:cs typeface="Red Hat Text" pitchFamily="34" charset="-120"/>
              </a:rPr>
              <a:t>Federated computational governance</a:t>
            </a:r>
            <a:endParaRPr lang="en-US" sz="1450" dirty="0"/>
          </a:p>
          <a:p>
            <a:pPr lvl="1" marL="355600" indent="-177800">
              <a:lnSpc>
                <a:spcPct val="102000"/>
              </a:lnSpc>
              <a:spcAft>
                <a:spcPts val="400"/>
              </a:spcAft>
              <a:buSzPct val="100000"/>
              <a:buChar char="•"/>
            </a:pPr>
            <a:r>
              <a:rPr lang="en-US" sz="1300" dirty="0">
                <a:solidFill>
                  <a:srgbClr val="151515"/>
                </a:solidFill>
                <a:latin typeface="Red Hat Text" pitchFamily="34" charset="0"/>
                <a:ea typeface="Red Hat Text" pitchFamily="34" charset="-122"/>
                <a:cs typeface="Red Hat Text" pitchFamily="34" charset="-120"/>
              </a:rPr>
              <a:t>so independent products interoperate as one ecosystem, under global standards baked computationally into the platform.</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30</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rtlCol="0" anchor="ctr"/>
          <a:lstStyle/>
          <a:p>
            <a:pPr indent="0" marL="0">
              <a:buNone/>
            </a:pPr>
            <a:r>
              <a:rPr lang="en-US" sz="1050" b="1" spc="200" kern="0" dirty="0">
                <a:solidFill>
                  <a:srgbClr val="EE0000"/>
                </a:solidFill>
                <a:latin typeface="Red Hat Text Medium" pitchFamily="34" charset="0"/>
                <a:ea typeface="Red Hat Text Medium" pitchFamily="34" charset="-122"/>
                <a:cs typeface="Red Hat Text Medium" pitchFamily="34" charset="-120"/>
              </a:rPr>
              <a:t>CONCLUSION</a:t>
            </a:r>
            <a:endParaRPr lang="en-US" sz="1050" dirty="0"/>
          </a:p>
        </p:txBody>
      </p:sp>
      <p:sp>
        <p:nvSpPr>
          <p:cNvPr id="3" name="Text 1"/>
          <p:cNvSpPr/>
          <p:nvPr/>
        </p:nvSpPr>
        <p:spPr>
          <a:xfrm>
            <a:off x="457200" y="475488"/>
            <a:ext cx="8229600" cy="640080"/>
          </a:xfrm>
          <a:prstGeom prst="rect">
            <a:avLst/>
          </a:prstGeom>
          <a:noFill/>
          <a:ln/>
        </p:spPr>
        <p:txBody>
          <a:bodyPr wrap="square" rtlCol="0" anchor="t"/>
          <a:lstStyle/>
          <a:p>
            <a:pPr indent="0" marL="0">
              <a:buNone/>
            </a:pPr>
            <a:r>
              <a:rPr lang="en-US" sz="2600" b="1" dirty="0">
                <a:solidFill>
                  <a:srgbClr val="151515"/>
                </a:solidFill>
                <a:latin typeface="Overpass SemiBold" pitchFamily="34" charset="0"/>
                <a:ea typeface="Overpass SemiBold" pitchFamily="34" charset="-122"/>
                <a:cs typeface="Overpass SemiBold" pitchFamily="34" charset="-120"/>
              </a:rPr>
              <a:t>References</a:t>
            </a:r>
            <a:endParaRPr lang="en-US" sz="2600" dirty="0"/>
          </a:p>
        </p:txBody>
      </p:sp>
      <p:pic>
        <p:nvPicPr>
          <p:cNvPr id="4" name="Image 0" descr="/tmp/build/assets/redhat-logo-black.png">    </p:cNvPr>
          <p:cNvPicPr>
            <a:picLocks noChangeAspect="1"/>
          </p:cNvPicPr>
          <p:nvPr/>
        </p:nvPicPr>
        <p:blipFill>
          <a:blip r:embed="rId1"/>
          <a:stretch>
            <a:fillRect/>
          </a:stretch>
        </p:blipFill>
        <p:spPr>
          <a:xfrm>
            <a:off x="7818120" y="4736592"/>
            <a:ext cx="914400" cy="215798"/>
          </a:xfrm>
          <a:prstGeom prst="rect">
            <a:avLst/>
          </a:prstGeom>
        </p:spPr>
      </p:pic>
      <p:sp>
        <p:nvSpPr>
          <p:cNvPr id="5" name="Text 2"/>
          <p:cNvSpPr/>
          <p:nvPr/>
        </p:nvSpPr>
        <p:spPr>
          <a:xfrm>
            <a:off x="502920" y="1325880"/>
            <a:ext cx="8138160" cy="320040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Zhamak Dehghani — Data Mesh: Delivering Data-Driven Value at Scale (O'Reilly, 2022). The canonical source for the four principles.</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Z. Dehghani — “Data Mesh Principles and Logical Architecture” and “How to Move Beyond a Monolithic Data Lake” (martinfowler.com).</a:t>
            </a:r>
            <a:endParaRPr lang="en-US" sz="1450" dirty="0"/>
          </a:p>
          <a:p>
            <a:pPr marL="177800" indent="-177800">
              <a:lnSpc>
                <a:spcPct val="102000"/>
              </a:lnSpc>
              <a:spcAft>
                <a:spcPts val="800"/>
              </a:spcAft>
              <a:buSzPct val="100000"/>
              <a:buChar char="•"/>
            </a:pPr>
            <a:r>
              <a:rPr lang="en-US" sz="1450" dirty="0">
                <a:solidFill>
                  <a:srgbClr val="151515"/>
                </a:solidFill>
                <a:latin typeface="Red Hat Text" pitchFamily="34" charset="0"/>
                <a:ea typeface="Red Hat Text" pitchFamily="34" charset="-122"/>
                <a:cs typeface="Red Hat Text" pitchFamily="34" charset="-120"/>
              </a:rPr>
              <a:t>Bilgin Ibryam &amp; Roland Huss — Kubernetes Patterns (O'Reilly, 2nd ed., 2023).</a:t>
            </a:r>
            <a:endParaRPr lang="en-US" sz="1450" dirty="0"/>
          </a:p>
          <a:p>
            <a:pPr marL="177800" indent="-177800">
              <a:lnSpc>
                <a:spcPct val="102000"/>
              </a:lnSpc>
              <a:spcAft>
                <a:spcPts val="800"/>
              </a:spcAft>
              <a:buSzPct val="100000"/>
              <a:buChar char="•"/>
            </a:pPr>
            <a:r>
              <a:rPr lang="en-US" sz="1450" dirty="0">
                <a:solidFill>
                  <a:srgbClr val="5A5A5A"/>
                </a:solidFill>
                <a:latin typeface="Red Hat Text" pitchFamily="34" charset="0"/>
                <a:ea typeface="Red Hat Text" pitchFamily="34" charset="-122"/>
                <a:cs typeface="Red Hat Text" pitchFamily="34" charset="-120"/>
              </a:rPr>
              <a:t>Reference tooling: Strimzi · KEDA · Istio / Kiali · Apicurio Registry · OpenMetadata · CloudNativePG · Prefect · OpenTelemetry.</a:t>
            </a:r>
            <a:endParaRPr lang="en-US" sz="1450" dirty="0"/>
          </a:p>
        </p:txBody>
      </p:sp>
      <p:sp>
        <p:nvSpPr>
          <p:cNvPr id="6" name="Text 3"/>
          <p:cNvSpPr/>
          <p:nvPr/>
        </p:nvSpPr>
        <p:spPr>
          <a:xfrm>
            <a:off x="274320" y="4754880"/>
            <a:ext cx="457200" cy="228600"/>
          </a:xfrm>
          <a:prstGeom prst="rect">
            <a:avLst/>
          </a:prstGeom>
          <a:noFill/>
          <a:ln/>
        </p:spPr>
        <p:txBody>
          <a:bodyPr wrap="square" rtlCol="0" anchor="ctr"/>
          <a:lstStyle/>
          <a:p>
            <a:pPr indent="0" marL="0">
              <a:buNone/>
            </a:pPr>
            <a:r>
              <a:rPr lang="en-US" sz="900" dirty="0">
                <a:solidFill>
                  <a:srgbClr val="5A5A5A"/>
                </a:solidFill>
                <a:latin typeface="Red Hat Text" pitchFamily="34" charset="0"/>
                <a:ea typeface="Red Hat Text" pitchFamily="34" charset="-122"/>
                <a:cs typeface="Red Hat Text" pitchFamily="34" charset="-120"/>
              </a:rPr>
              <a:t>31</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8A0000"/>
        </a:solidFill>
      </p:bgPr>
    </p:bg>
    <p:spTree>
      <p:nvGrpSpPr>
        <p:cNvPr id="1" name=""/>
        <p:cNvGrpSpPr/>
        <p:nvPr/>
      </p:nvGrpSpPr>
      <p:grpSpPr>
        <a:xfrm>
          <a:off x="0" y="0"/>
          <a:ext cx="0" cy="0"/>
          <a:chOff x="0" y="0"/>
          <a:chExt cx="0" cy="0"/>
        </a:xfrm>
      </p:grpSpPr>
      <p:pic>
        <p:nvPicPr>
          <p:cNvPr id="2" name="Image 0" descr="/tmp/build/assets/geo-dark.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297680" y="2103120"/>
            <a:ext cx="4572000" cy="1280160"/>
          </a:xfrm>
          <a:prstGeom prst="rect">
            <a:avLst/>
          </a:prstGeom>
          <a:noFill/>
          <a:ln/>
        </p:spPr>
        <p:txBody>
          <a:bodyPr wrap="square" rtlCol="0" anchor="t"/>
          <a:lstStyle/>
          <a:p>
            <a:pPr indent="0" marL="0">
              <a:buNone/>
            </a:pPr>
            <a:r>
              <a:rPr lang="en-US" sz="3300" b="1" dirty="0">
                <a:solidFill>
                  <a:srgbClr val="FFFFFF"/>
                </a:solidFill>
                <a:latin typeface="Overpass SemiBold" pitchFamily="34" charset="0"/>
                <a:ea typeface="Overpass SemiBold" pitchFamily="34" charset="-122"/>
                <a:cs typeface="Overpass SemiBold" pitchFamily="34" charset="-120"/>
              </a:rPr>
              <a:t>Thank you</a:t>
            </a:r>
            <a:endParaRPr lang="en-US" sz="3300" dirty="0"/>
          </a:p>
        </p:txBody>
      </p:sp>
      <p:sp>
        <p:nvSpPr>
          <p:cNvPr id="4" name="Text 1"/>
          <p:cNvSpPr/>
          <p:nvPr/>
        </p:nvSpPr>
        <p:spPr>
          <a:xfrm>
            <a:off x="4315968" y="3246120"/>
            <a:ext cx="4480560" cy="822960"/>
          </a:xfrm>
          <a:prstGeom prst="rect">
            <a:avLst/>
          </a:prstGeom>
          <a:noFill/>
          <a:ln/>
        </p:spPr>
        <p:txBody>
          <a:bodyPr wrap="square" rtlCol="0" anchor="ctr"/>
          <a:lstStyle/>
          <a:p>
            <a:pPr indent="0" marL="0">
              <a:buNone/>
            </a:pPr>
            <a:r>
              <a:rPr lang="en-US" sz="1300" i="1" dirty="0">
                <a:solidFill>
                  <a:srgbClr val="FFD9D9"/>
                </a:solidFill>
                <a:latin typeface="Red Hat Text" pitchFamily="34" charset="0"/>
                <a:ea typeface="Red Hat Text" pitchFamily="34" charset="-122"/>
                <a:cs typeface="Red Hat Text" pitchFamily="34" charset="-120"/>
              </a:rPr>
              <a:t>Questions?</a:t>
            </a:r>
            <a:endParaRPr lang="en-US" sz="1300" dirty="0"/>
          </a:p>
        </p:txBody>
      </p:sp>
      <p:pic>
        <p:nvPicPr>
          <p:cNvPr id="5" name="Image 1" descr="/tmp/build/assets/redhat-logo-white.png">    </p:cNvPr>
          <p:cNvPicPr>
            <a:picLocks noChangeAspect="1"/>
          </p:cNvPicPr>
          <p:nvPr/>
        </p:nvPicPr>
        <p:blipFill>
          <a:blip r:embed="rId2"/>
          <a:stretch>
            <a:fillRect/>
          </a:stretch>
        </p:blipFill>
        <p:spPr>
          <a:xfrm>
            <a:off x="7818120" y="4736592"/>
            <a:ext cx="914400" cy="21579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425206" y="288043"/>
            <a:ext cx="8291529" cy="219461"/>
          </a:xfrm>
          <a:prstGeom prst="rect">
            <a:avLst/>
          </a:prstGeom>
          <a:noFill/>
        </p:spPr>
        <p:txBody>
          <a:bodyPr wrap="square" lIns="0" rIns="0" tIns="0" bIns="0" anchor="ctr">
            <a:spAutoFit/>
          </a:bodyPr>
          <a:lstStyle/>
          <a:p>
            <a:pPr algn="l"/>
            <a:r>
              <a:rPr sz="900" b="1" i="0" spc="300">
                <a:solidFill>
                  <a:srgbClr val="EE0000"/>
                </a:solidFill>
                <a:latin typeface="Overpass"/>
                <a:cs typeface="Overpass"/>
              </a:rPr>
              <a:t>SCAN TO EXPLORE</a:t>
            </a:r>
          </a:p>
        </p:txBody>
      </p:sp>
      <p:sp>
        <p:nvSpPr>
          <p:cNvPr id="3" name="TextBox 2"/>
          <p:cNvSpPr txBox="1"/>
          <p:nvPr/>
        </p:nvSpPr>
        <p:spPr>
          <a:xfrm>
            <a:off x="425206" y="507504"/>
            <a:ext cx="8291529" cy="754398"/>
          </a:xfrm>
          <a:prstGeom prst="rect">
            <a:avLst/>
          </a:prstGeom>
          <a:noFill/>
        </p:spPr>
        <p:txBody>
          <a:bodyPr wrap="square" lIns="0" rIns="0" tIns="0" bIns="0" anchor="t">
            <a:spAutoFit/>
          </a:bodyPr>
          <a:lstStyle/>
          <a:p>
            <a:pPr algn="l"/>
            <a:r>
              <a:rPr sz="2250" b="1" i="0">
                <a:solidFill>
                  <a:srgbClr val="151515"/>
                </a:solidFill>
                <a:latin typeface="Overpass"/>
                <a:cs typeface="Overpass"/>
              </a:rPr>
              <a:t>Take it with you</a:t>
            </a:r>
          </a:p>
        </p:txBody>
      </p:sp>
      <p:pic>
        <p:nvPicPr>
          <p:cNvPr id="4" name="Picture 3" descr="qr-dmpy-site.png"/>
          <p:cNvPicPr>
            <a:picLocks noChangeAspect="1"/>
          </p:cNvPicPr>
          <p:nvPr/>
        </p:nvPicPr>
        <p:blipFill>
          <a:blip r:embed="rId2"/>
          <a:stretch>
            <a:fillRect/>
          </a:stretch>
        </p:blipFill>
        <p:spPr>
          <a:xfrm>
            <a:off x="1577379" y="1220754"/>
            <a:ext cx="2126033" cy="2126033"/>
          </a:xfrm>
          <a:prstGeom prst="rect">
            <a:avLst/>
          </a:prstGeom>
        </p:spPr>
      </p:pic>
      <p:sp>
        <p:nvSpPr>
          <p:cNvPr id="5" name="TextBox 4"/>
          <p:cNvSpPr txBox="1"/>
          <p:nvPr/>
        </p:nvSpPr>
        <p:spPr>
          <a:xfrm>
            <a:off x="1063016" y="3415369"/>
            <a:ext cx="3154758" cy="274326"/>
          </a:xfrm>
          <a:prstGeom prst="rect">
            <a:avLst/>
          </a:prstGeom>
          <a:noFill/>
        </p:spPr>
        <p:txBody>
          <a:bodyPr wrap="square" lIns="0" rIns="0" tIns="0" bIns="0" anchor="ctr">
            <a:spAutoFit/>
          </a:bodyPr>
          <a:lstStyle/>
          <a:p>
            <a:pPr algn="ctr"/>
            <a:r>
              <a:rPr sz="1350" b="1" i="0">
                <a:solidFill>
                  <a:srgbClr val="151515"/>
                </a:solidFill>
                <a:latin typeface="Overpass"/>
                <a:cs typeface="Overpass"/>
              </a:rPr>
              <a:t>The reference architecture</a:t>
            </a:r>
          </a:p>
        </p:txBody>
      </p:sp>
      <p:sp>
        <p:nvSpPr>
          <p:cNvPr id="6" name="TextBox 5"/>
          <p:cNvSpPr txBox="1"/>
          <p:nvPr/>
        </p:nvSpPr>
        <p:spPr>
          <a:xfrm>
            <a:off x="994434" y="3703412"/>
            <a:ext cx="3291922" cy="493788"/>
          </a:xfrm>
          <a:prstGeom prst="rect">
            <a:avLst/>
          </a:prstGeom>
          <a:noFill/>
        </p:spPr>
        <p:txBody>
          <a:bodyPr wrap="square" lIns="0" rIns="0" tIns="0" bIns="0" anchor="t">
            <a:spAutoFit/>
          </a:bodyPr>
          <a:lstStyle/>
          <a:p>
            <a:pPr algn="ctr"/>
            <a:r>
              <a:rPr sz="975" b="0" i="1">
                <a:solidFill>
                  <a:srgbClr val="5A5A5A"/>
                </a:solidFill>
                <a:latin typeface="Red Hat Text"/>
                <a:cs typeface="Red Hat Text"/>
              </a:rPr>
              <a:t>Site, runnable Python services, contracts, and the minikube bootstrap</a:t>
            </a:r>
          </a:p>
        </p:txBody>
      </p:sp>
      <p:sp>
        <p:nvSpPr>
          <p:cNvPr id="7" name="TextBox 6"/>
          <p:cNvSpPr txBox="1"/>
          <p:nvPr/>
        </p:nvSpPr>
        <p:spPr>
          <a:xfrm>
            <a:off x="994434" y="4197200"/>
            <a:ext cx="3291922" cy="219461"/>
          </a:xfrm>
          <a:prstGeom prst="rect">
            <a:avLst/>
          </a:prstGeom>
          <a:noFill/>
        </p:spPr>
        <p:txBody>
          <a:bodyPr wrap="square" lIns="0" rIns="0" tIns="0" bIns="0" anchor="ctr">
            <a:spAutoFit/>
          </a:bodyPr>
          <a:lstStyle/>
          <a:p>
            <a:pPr algn="ctr"/>
            <a:r>
              <a:rPr sz="750" b="0" i="0">
                <a:solidFill>
                  <a:srgbClr val="EE0000"/>
                </a:solidFill>
                <a:latin typeface="Red Hat Mono"/>
                <a:cs typeface="Red Hat Mono"/>
              </a:rPr>
              <a:t>patterncatalyst.github.io/datamesh-reference-arch-python</a:t>
            </a:r>
          </a:p>
        </p:txBody>
      </p:sp>
      <p:pic>
        <p:nvPicPr>
          <p:cNvPr id="8" name="Picture 7" descr="qr-hub.png"/>
          <p:cNvPicPr>
            <a:picLocks noChangeAspect="1"/>
          </p:cNvPicPr>
          <p:nvPr/>
        </p:nvPicPr>
        <p:blipFill>
          <a:blip r:embed="rId3"/>
          <a:stretch>
            <a:fillRect/>
          </a:stretch>
        </p:blipFill>
        <p:spPr>
          <a:xfrm>
            <a:off x="5438529" y="1220754"/>
            <a:ext cx="2126033" cy="2126033"/>
          </a:xfrm>
          <a:prstGeom prst="rect">
            <a:avLst/>
          </a:prstGeom>
        </p:spPr>
      </p:pic>
      <p:sp>
        <p:nvSpPr>
          <p:cNvPr id="9" name="TextBox 8"/>
          <p:cNvSpPr txBox="1"/>
          <p:nvPr/>
        </p:nvSpPr>
        <p:spPr>
          <a:xfrm>
            <a:off x="4924167" y="3415369"/>
            <a:ext cx="3154758" cy="274326"/>
          </a:xfrm>
          <a:prstGeom prst="rect">
            <a:avLst/>
          </a:prstGeom>
          <a:noFill/>
        </p:spPr>
        <p:txBody>
          <a:bodyPr wrap="square" lIns="0" rIns="0" tIns="0" bIns="0" anchor="ctr">
            <a:spAutoFit/>
          </a:bodyPr>
          <a:lstStyle/>
          <a:p>
            <a:pPr algn="ctr"/>
            <a:r>
              <a:rPr sz="1350" b="1" i="0">
                <a:solidFill>
                  <a:srgbClr val="151515"/>
                </a:solidFill>
                <a:latin typeface="Overpass"/>
                <a:cs typeface="Overpass"/>
              </a:rPr>
              <a:t>Workshops &amp; Tutorials</a:t>
            </a:r>
          </a:p>
        </p:txBody>
      </p:sp>
      <p:sp>
        <p:nvSpPr>
          <p:cNvPr id="10" name="TextBox 9"/>
          <p:cNvSpPr txBox="1"/>
          <p:nvPr/>
        </p:nvSpPr>
        <p:spPr>
          <a:xfrm>
            <a:off x="4855585" y="3703412"/>
            <a:ext cx="3291922" cy="493788"/>
          </a:xfrm>
          <a:prstGeom prst="rect">
            <a:avLst/>
          </a:prstGeom>
          <a:noFill/>
        </p:spPr>
        <p:txBody>
          <a:bodyPr wrap="square" lIns="0" rIns="0" tIns="0" bIns="0" anchor="t">
            <a:spAutoFit/>
          </a:bodyPr>
          <a:lstStyle/>
          <a:p>
            <a:pPr algn="ctr"/>
            <a:r>
              <a:rPr sz="975" b="0" i="1">
                <a:solidFill>
                  <a:srgbClr val="5A5A5A"/>
                </a:solidFill>
                <a:latin typeface="Red Hat Text"/>
                <a:cs typeface="Red Hat Text"/>
              </a:rPr>
              <a:t>The whole series: every workshop, tutorial, and deck in one place</a:t>
            </a:r>
          </a:p>
        </p:txBody>
      </p:sp>
      <p:sp>
        <p:nvSpPr>
          <p:cNvPr id="11" name="TextBox 10"/>
          <p:cNvSpPr txBox="1"/>
          <p:nvPr/>
        </p:nvSpPr>
        <p:spPr>
          <a:xfrm>
            <a:off x="4855585" y="4197200"/>
            <a:ext cx="3291922" cy="219461"/>
          </a:xfrm>
          <a:prstGeom prst="rect">
            <a:avLst/>
          </a:prstGeom>
          <a:noFill/>
        </p:spPr>
        <p:txBody>
          <a:bodyPr wrap="square" lIns="0" rIns="0" tIns="0" bIns="0" anchor="ctr">
            <a:spAutoFit/>
          </a:bodyPr>
          <a:lstStyle/>
          <a:p>
            <a:pPr algn="ctr"/>
            <a:r>
              <a:rPr sz="675" b="0" i="0">
                <a:solidFill>
                  <a:srgbClr val="EE0000"/>
                </a:solidFill>
                <a:latin typeface="Red Hat Mono"/>
                <a:cs typeface="Red Hat Mono"/>
              </a:rPr>
              <a:t>patterncatalyst.github.io/patterncatalyst-workshops-tutorials-list</a:t>
            </a:r>
          </a:p>
        </p:txBody>
      </p:sp>
      <p:sp>
        <p:nvSpPr>
          <p:cNvPr id="12" name="TextBox 11"/>
          <p:cNvSpPr txBox="1"/>
          <p:nvPr/>
        </p:nvSpPr>
        <p:spPr>
          <a:xfrm>
            <a:off x="425206" y="4773287"/>
            <a:ext cx="685817" cy="205745"/>
          </a:xfrm>
          <a:prstGeom prst="rect">
            <a:avLst/>
          </a:prstGeom>
          <a:noFill/>
        </p:spPr>
        <p:txBody>
          <a:bodyPr wrap="square" lIns="0" rIns="0" tIns="0" bIns="0" anchor="ctr">
            <a:spAutoFit/>
          </a:bodyPr>
          <a:lstStyle/>
          <a:p>
            <a:pPr algn="l"/>
            <a:r>
              <a:rPr sz="750" b="0" i="0">
                <a:solidFill>
                  <a:srgbClr val="8A8A8A"/>
                </a:solidFill>
                <a:latin typeface="Red Hat Text"/>
                <a:cs typeface="Red Hat Text"/>
              </a:rPr>
              <a:t>41</a:t>
            </a:r>
          </a:p>
        </p:txBody>
      </p:sp>
      <p:pic>
        <p:nvPicPr>
          <p:cNvPr id="13" name="Picture 12" descr="image.png"/>
          <p:cNvPicPr>
            <a:picLocks noChangeAspect="1"/>
          </p:cNvPicPr>
          <p:nvPr/>
        </p:nvPicPr>
        <p:blipFill>
          <a:blip r:embed="rId4"/>
          <a:stretch>
            <a:fillRect/>
          </a:stretch>
        </p:blipFill>
        <p:spPr>
          <a:xfrm>
            <a:off x="7921188" y="4766429"/>
            <a:ext cx="774973" cy="1851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Data Mesh</dc:title>
  <dc:subject>PptxGenJS Presentation</dc:subject>
  <dc:creator>Robert Sedor</dc:creator>
  <cp:lastModifiedBy>Robert Sedor</cp:lastModifiedBy>
  <cp:revision>1</cp:revision>
  <dcterms:created xsi:type="dcterms:W3CDTF">2026-05-22T15:30:02Z</dcterms:created>
  <dcterms:modified xsi:type="dcterms:W3CDTF">2026-05-22T15:30:02Z</dcterms:modified>
</cp:coreProperties>
</file>